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65" r:id="rId10"/>
    <p:sldId id="266" r:id="rId11"/>
    <p:sldId id="267" r:id="rId12"/>
    <p:sldId id="268" r:id="rId13"/>
    <p:sldId id="292" r:id="rId4"/>
    <p:sldId id="293" r:id="rId37"/>
    <p:sldId id="282" r:id="rId27"/>
    <p:sldId id="283" r:id="rId28"/>
    <p:sldId id="294" r:id="rId38"/>
    <p:sldId id="295" r:id="rId39"/>
    <p:sldId id="286" r:id="rId31"/>
    <p:sldId id="296" r:id="rId40"/>
    <p:sldId id="297" r:id="rId41"/>
    <p:sldId id="284" r:id="rId29"/>
    <p:sldId id="285" r:id="rId30"/>
    <p:sldId id="298" r:id="rId42"/>
    <p:sldId id="299" r:id="rId43"/>
    <p:sldId id="300" r:id="rId44"/>
    <p:sldId id="287" r:id="rId32"/>
    <p:sldId id="289" r:id="rId34"/>
    <p:sldId id="288" r:id="rId33"/>
    <p:sldId id="301" r:id="rId45"/>
    <p:sldId id="302" r:id="rId46"/>
    <p:sldId id="290" r:id="rId35"/>
    <p:sldId id="291" r:id="rId36"/>
    <p:sldId id="269" r:id="rId14"/>
    <p:sldId id="270" r:id="rId15"/>
    <p:sldId id="271" r:id="rId16"/>
    <p:sldId id="272" r:id="rId17"/>
    <p:sldId id="281" r:id="rId26"/>
    <p:sldId id="264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441"/>
    <a:srgbClr val="FD77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599"/>
  </p:normalViewPr>
  <p:slideViewPr>
    <p:cSldViewPr snapToGrid="0" snapToObjects="1">
      <p:cViewPr varScale="1">
        <p:scale>
          <a:sx n="90" d="100"/>
          <a:sy n="90" d="100"/>
        </p:scale>
        <p:origin x="232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1.xml"/><Relationship Id="rId5" Type="http://schemas.openxmlformats.org/officeDocument/2006/relationships/slide" Target="slides/slide30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9.xml"/><Relationship Id="rId15" Type="http://schemas.openxmlformats.org/officeDocument/2006/relationships/slide" Target="slides/slide13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21.xml"/><Relationship Id="rId19" Type="http://schemas.openxmlformats.org/officeDocument/2006/relationships/slide" Target="slides/slide22.xml"/><Relationship Id="rId20" Type="http://schemas.openxmlformats.org/officeDocument/2006/relationships/slide" Target="slides/slide23.xml"/><Relationship Id="rId21" Type="http://schemas.openxmlformats.org/officeDocument/2006/relationships/slide" Target="slides/slide24.xml"/><Relationship Id="rId22" Type="http://schemas.openxmlformats.org/officeDocument/2006/relationships/slide" Target="slides/slide25.xml"/><Relationship Id="rId23" Type="http://schemas.openxmlformats.org/officeDocument/2006/relationships/slide" Target="slides/slide26.xml"/><Relationship Id="rId24" Type="http://schemas.openxmlformats.org/officeDocument/2006/relationships/slide" Target="slides/slide27.xml"/><Relationship Id="rId25" Type="http://schemas.openxmlformats.org/officeDocument/2006/relationships/slide" Target="slides/slide28.xml"/><Relationship Id="rId26" Type="http://schemas.openxmlformats.org/officeDocument/2006/relationships/slide" Target="slides/slide29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10.xml"/><Relationship Id="rId30" Type="http://schemas.openxmlformats.org/officeDocument/2006/relationships/slide" Target="slides/slide11.xml"/><Relationship Id="rId31" Type="http://schemas.openxmlformats.org/officeDocument/2006/relationships/slide" Target="slides/slide12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35" Type="http://schemas.openxmlformats.org/officeDocument/2006/relationships/slide" Target="slides/slide19.xml"/><Relationship Id="rId36" Type="http://schemas.openxmlformats.org/officeDocument/2006/relationships/slide" Target="slides/slide20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C139E7-D16B-4540-BCF8-C18F02415D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C9CBD08-FB09-DA40-99B4-50B1836C2D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F2ABB8-95FE-BB4C-92FD-14EF467BB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EC50-D75F-5643-BA4D-7992EE5B3F18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48CDC8-131E-EA4F-A67B-1096F91C7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108280-79F3-864A-B9C3-A1F0A0EE7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1982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C0C3C6-070D-B045-BF69-783F30CEE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A0FBA5-625A-344B-9E8F-91AB01DAB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123016-F796-504C-91A7-79E4766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EC50-D75F-5643-BA4D-7992EE5B3F18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1D6825-81FA-D44B-8F1E-28CBF7AEC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67A551-F682-694A-BFEE-646C5EA12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9051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3F2785-109D-AC46-9BE9-B7FB4B125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F930678-FD52-FB44-A291-4692B6A79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14F10B-DBBE-924A-BC60-2A05393B7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EC50-D75F-5643-BA4D-7992EE5B3F18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66A4A7-7EB1-3144-B7AD-FE53BB2D6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C25135-55C1-7C4B-94AA-7C4F04D64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0484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86169D-6B81-6B47-B9F5-21BC6A781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BBDC58-B2FB-7847-B0E0-4DB0E441DD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AA18BA-7B74-1141-8601-A4083958B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06F8292-2A02-D74D-A20D-94C9317F2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EC50-D75F-5643-BA4D-7992EE5B3F18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ACA28AF-AE12-9040-915F-7EC8798D3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B0748FC-42D8-C544-8A0F-40FC183C8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2848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5E0668-53C2-DC42-BF93-19AC72D9F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14DF04-5B2C-B942-B707-CD3E57D32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DFFF379-8B78-9943-976A-F48EF987C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BEA1737-CD7C-F145-8C22-70D6A5798B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82A64D2-AEC7-CF43-89BE-AC209405B2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3D70EAA-861F-B345-B584-BA43280A7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EC50-D75F-5643-BA4D-7992EE5B3F18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C927046-D773-1649-B6ED-E7B73427F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6C7C39A-058A-1E4F-8916-051B204BD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1281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8E05A2-501E-A242-939A-5ACF58796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35A4D68-FECB-D640-B7AA-2259C4CCA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EC50-D75F-5643-BA4D-7992EE5B3F18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48F22E7-4A75-8942-9444-BA12193CA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296687C-9AAA-344E-A5DA-1E1F01771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2074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7594ECB-9856-B641-88CB-C38B389C0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EC50-D75F-5643-BA4D-7992EE5B3F18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CA89FB4-3075-854B-83C8-68EF9683D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4C96DE6-5352-9D4C-A64C-E7ACE9559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38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013D3C-937D-734C-B838-B07A1B33A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7DD320-3D7A-8949-9FEF-30BC9EEB0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A996994-6B02-3846-8F49-9BACCD2CA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AA4DFBD-D192-7049-A5EC-EDFB90E4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EC50-D75F-5643-BA4D-7992EE5B3F18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EA5BA9E-615C-5648-91C0-9A53ED070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93CF783-CC3E-F741-ABCC-68509A79E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4753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C3DD70-FE90-1D4E-870A-0D1D7A461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1C5BF9A-D65B-EF46-A877-3D0891126A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6F2BC9B-ED84-7446-ACF9-B288AA3BD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273422F-6156-0F4D-8249-6E48B61FA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EC50-D75F-5643-BA4D-7992EE5B3F18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C3BA86C-9B0D-4E48-B01A-C46D326D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9B4943D-4128-CA4B-9E16-C872A6734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2007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07C1F4-D9F6-034B-AA9A-D63EECED1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CE0E1A8-4837-C54B-9FA3-2D6EA6519E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CF5B6D-753E-434F-B585-5FBF66C1D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EC50-D75F-5643-BA4D-7992EE5B3F18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83CDB2-7AD6-A848-919F-B54FAAC79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A51AA6-8189-7848-ACB2-21C475EBE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1052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666D187-B5AB-A34B-8F3D-2A75DEB05C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EDD1C37-680F-174D-8A72-1B5C1ECAC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A78EC4-AD63-0F45-A08D-C62005C81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EC50-D75F-5643-BA4D-7992EE5B3F18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4803ED1-5A60-F24A-BC41-B7B6AB1B6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42E234-DB63-764F-BBB0-F1E02CA26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87776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99D96EF-E3B3-EC40-9442-E9D54BE77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D0B0A15-7B96-AB41-8097-0EE864C97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1BDC27-671E-894F-9AC0-13EC3C8668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DFEC50-D75F-5643-BA4D-7992EE5B3F18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B9DCDA-7AF0-DD4C-B045-620F7779EE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4BE3EDC-946A-AC44-A828-BD9919CF6E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666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C15DD0AD-1509-494C-8F62-3B578C6A35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50977" y="1286566"/>
            <a:ext cx="7890272" cy="2403804"/>
          </a:xfrm>
        </p:spPr>
        <p:txBody>
          <a:bodyPr wrap="square">
            <a:norm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Tahoma"/>
              </a:rPr>
              <a:t>NEXUS</a:t>
            </a:r>
            <a:endParaRPr lang="pt-BR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Tahoma"/>
              </a:rPr>
              <a:t>Consulta em Perícia Digital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1F6E2F22-4875-1D48-AD6F-58B7D38AF9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7785" y="3957612"/>
            <a:ext cx="5736656" cy="676982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Tahoma"/>
              </a:rPr>
              <a:t>Caso TechCorp  |  CorpSync_Service</a:t>
            </a:r>
            <a:endParaRPr lang="pt-BR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204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84121" y="980000"/>
            <a:ext cx="9805481" cy="1050000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3400" b="1">
                <a:solidFill>
                  <a:srgbClr val="007441"/>
                </a:solidFill>
                <a:latin typeface="Arial"/>
              </a:rPr>
              <a:t>O que vamos apresentar</a:t>
            </a:r>
            <a:endParaRPr lang="pt-BR" b="1" dirty="0">
              <a:solidFill>
                <a:srgbClr val="00744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184121" y="2100000"/>
            <a:ext cx="9805481" cy="4550000"/>
          </a:xfrm>
        </p:spPr>
        <p:txBody>
          <a:bodyPr wrap="square">
            <a:norm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400" b="0">
                <a:solidFill>
                  <a:srgbClr val="333333"/>
                </a:solidFill>
                <a:latin typeface="Arial"/>
              </a:rPr>
              <a:t>Quem são os integrantes e o que cada função faz</a:t>
            </a:r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sz="2400" b="0">
                <a:solidFill>
                  <a:srgbClr val="333333"/>
                </a:solidFill>
                <a:latin typeface="Arial"/>
              </a:rPr>
              <a:t>O caso TechCorp e como o serviço foi realizado</a:t>
            </a:r>
          </a:p>
          <a:p>
            <a:pPr algn="l"/>
            <a:r>
              <a:rPr sz="2400" b="0">
                <a:solidFill>
                  <a:srgbClr val="333333"/>
                </a:solidFill>
                <a:latin typeface="Arial"/>
              </a:rPr>
              <a:t>A cadeia de custódia do exame</a:t>
            </a:r>
          </a:p>
          <a:p>
            <a:pPr algn="l"/>
            <a:r>
              <a:rPr sz="2400" b="0">
                <a:solidFill>
                  <a:srgbClr val="333333"/>
                </a:solidFill>
                <a:latin typeface="Arial"/>
              </a:rPr>
              <a:t>Todas as evidências, da coleta ao tráfego de rede</a:t>
            </a:r>
          </a:p>
          <a:p>
            <a:pPr algn="l"/>
            <a:r>
              <a:rPr sz="2400" b="0">
                <a:solidFill>
                  <a:srgbClr val="333333"/>
                </a:solidFill>
                <a:latin typeface="Arial"/>
              </a:rPr>
              <a:t>O que encontramos, diagnosticamos e entregamos</a:t>
            </a:r>
          </a:p>
        </p:txBody>
      </p:sp>
    </p:spTree>
    <p:extLst>
      <p:ext uri="{BB962C8B-B14F-4D97-AF65-F5344CB8AC3E}">
        <p14:creationId xmlns:p14="http://schemas.microsoft.com/office/powerpoint/2010/main" val="845468954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980000"/>
            <a:ext cx="9805481" cy="1050000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3400" b="1">
                <a:solidFill>
                  <a:srgbClr val="007441"/>
                </a:solidFill>
                <a:latin typeface="Arial"/>
              </a:rPr>
              <a:t>Quem somos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4121" y="2100000"/>
            <a:ext cx="9805481" cy="4550000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A Nexus é uma consultoria em perícia digital e computação forense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Slogan: Conectando evidências. Revelando respostas.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Transformamos vestígios digitais em respostas técnicas para o cliente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A equipe separa quem coleta, quem analisa e quem confere o relatório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Este caso é entrega técnica e também o pitch da empresa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980000"/>
            <a:ext cx="9805481" cy="1050000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3400" b="1">
                <a:solidFill>
                  <a:srgbClr val="007441"/>
                </a:solidFill>
                <a:latin typeface="Arial"/>
              </a:rPr>
              <a:t>O trabalho que recebemos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4121" y="2100000"/>
            <a:ext cx="9805481" cy="4550000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A TechCorp contratou a Nexus para investigar atividade suspeita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Objeto: o componente CorpSync_Service no ambiente corporativo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O cliente entregou o ambiente, os artefatos e o acesso à equipe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A demanda: o que os vestígios comprovam, o que é hipótese e o que não se afirma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Aceitamos o caso, montamos a equipe e só então começamos a análise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980000"/>
            <a:ext cx="9805481" cy="1050000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3400" b="1">
                <a:solidFill>
                  <a:srgbClr val="007441"/>
                </a:solidFill>
                <a:latin typeface="Arial"/>
              </a:rPr>
              <a:t>Como o serviço foi realizado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4121" y="2100000"/>
            <a:ext cx="9805481" cy="4550000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1. Receber o caso, definir papéis e as diretrizes técnicas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2. Preservar o ambiente e inventariar artefatos com hash SHA-256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3. Analisar dados móveis, código-fonte, logs e tráfego de rede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4. Correlacionar as fontes e montar a linha do tempo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5. Registrar a cadeia de custódia e entregar o relatório com limitações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980000"/>
            <a:ext cx="9805481" cy="1050000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3400" b="1">
                <a:solidFill>
                  <a:srgbClr val="007441"/>
                </a:solidFill>
                <a:latin typeface="Arial"/>
              </a:rPr>
              <a:t>Ambiente e ferramentas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4121" y="2100000"/>
            <a:ext cx="9805481" cy="4550000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Ambiente: Windows 10 em Oracle VirtualBox / FLARE-VM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Diretório de trabalho: C:\LabForensic\Caso_TechCorp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Preservação e integridade: Manifest_SHA256.csv e cadeia de custódia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Análise: logs/CSV do laboratório e PowerShell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Rede e código: Wireshark e Visual Studio 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520000"/>
            <a:ext cx="9805481" cy="700000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800" b="1">
                <a:solidFill>
                  <a:srgbClr val="007441"/>
                </a:solidFill>
                <a:latin typeface="Arial"/>
              </a:rPr>
              <a:t>Evidência 1 — inventário do caso</a:t>
            </a:r>
          </a:p>
        </p:txBody>
      </p:sp>
      <p:pic>
        <p:nvPicPr>
          <p:cNvPr id="3" name="Picture 2" descr="ev_01_p1_1110x4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121" y="1280000"/>
            <a:ext cx="9805481" cy="38868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84121" y="5226857"/>
            <a:ext cx="9805481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Figura 1. Estrutura de C:\LabForensic\Caso_TechCorp. O exame partiu de um diretório preservado, não de arquivos soltos.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520000"/>
            <a:ext cx="9805481" cy="700000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800" b="1">
                <a:solidFill>
                  <a:srgbClr val="007441"/>
                </a:solidFill>
                <a:latin typeface="Arial"/>
              </a:rPr>
              <a:t>Evidência 2 — integridade SHA-256</a:t>
            </a:r>
          </a:p>
        </p:txBody>
      </p:sp>
      <p:pic>
        <p:nvPicPr>
          <p:cNvPr id="3" name="Picture 2" descr="ev_02_p1_1363x7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141" y="1280000"/>
            <a:ext cx="8649441" cy="45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84121" y="5890000"/>
            <a:ext cx="9805481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Figura 2. Manifest_SHA256.csv com tamanho, hash e horário. Se o hash mudar, o arquivo não é mais o mesmo.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980000"/>
            <a:ext cx="9805481" cy="1050000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3400" b="1">
                <a:solidFill>
                  <a:srgbClr val="007441"/>
                </a:solidFill>
                <a:latin typeface="Arial"/>
              </a:rPr>
              <a:t>O que encontramos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4121" y="2100000"/>
            <a:ext cx="9805481" cy="4550000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08:41:12 — CorpSync_Service iniciado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08:42:03 — usuário analyst identificado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08:43:27 — tentativa registrada de acesso a Financeiro.xlsx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08:44:18 — endpoint 192.168.56.20:8080 configurado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08:44:22 — requisição de teste; User-Agent CorpSync-Lab/4.2.1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Wireshark: HTTP local em 127.0.0.1:8080, GET /api/v1/sync e resposta 200 OK; indicadores coincidem com fonte e logs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520000"/>
            <a:ext cx="9805481" cy="700000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800" b="1">
                <a:solidFill>
                  <a:srgbClr val="007441"/>
                </a:solidFill>
                <a:latin typeface="Arial"/>
              </a:rPr>
              <a:t>Evidência 8 — código CorpSync_Service.c</a:t>
            </a:r>
          </a:p>
        </p:txBody>
      </p:sp>
      <p:pic>
        <p:nvPicPr>
          <p:cNvPr id="3" name="Picture 2" descr="ev_08_p1_1347x7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4230" y="1280000"/>
            <a:ext cx="8465262" cy="45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84121" y="5890000"/>
            <a:ext cx="9805481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Figura 8. Análise estática do fonte. O programa só imprime indicadores: sem socket, persistência ou exfiltração.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480000"/>
            <a:ext cx="9805481" cy="640000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800" b="1">
                <a:solidFill>
                  <a:srgbClr val="007441"/>
                </a:solidFill>
                <a:latin typeface="Arial"/>
              </a:rPr>
              <a:t>Evidência 9 — Event Viewer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84121" y="5587054"/>
            <a:ext cx="9805481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Figura 9. Eventos 1001, 1002 e 1003: início do serviço, usuário analyst e tentativa de acesso a Financeiro.xlsx.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84121" y="1140000"/>
            <a:ext cx="9805481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1">
                <a:solidFill>
                  <a:srgbClr val="007441"/>
                </a:solidFill>
                <a:latin typeface="Arial"/>
              </a:rPr>
              <a:t>1. Busca direta no Visualizador de Eventos</a:t>
            </a:r>
          </a:p>
        </p:txBody>
      </p:sp>
      <p:pic>
        <p:nvPicPr>
          <p:cNvPr id="6" name="Picture 5" descr="eventviewer_search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7898" y="1440000"/>
            <a:ext cx="9177927" cy="25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84121" y="4020000"/>
            <a:ext cx="9805481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1">
                <a:solidFill>
                  <a:srgbClr val="007441"/>
                </a:solidFill>
                <a:latin typeface="Arial"/>
              </a:rPr>
              <a:t>2. Registro equivalente fornecido pelo laboratório</a:t>
            </a:r>
          </a:p>
        </p:txBody>
      </p:sp>
      <p:pic>
        <p:nvPicPr>
          <p:cNvPr id="8" name="Picture 7" descr="eventviewer_csv_cro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4121" y="4320000"/>
            <a:ext cx="9805481" cy="12270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520000"/>
            <a:ext cx="9805481" cy="700000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800" b="1">
                <a:solidFill>
                  <a:srgbClr val="007441"/>
                </a:solidFill>
                <a:latin typeface="Arial"/>
              </a:rPr>
              <a:t>Evidência 5 — metadados do dispositivo</a:t>
            </a:r>
          </a:p>
        </p:txBody>
      </p:sp>
      <p:pic>
        <p:nvPicPr>
          <p:cNvPr id="3" name="Picture 2" descr="ev_05_p1_1360x7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670" y="1280000"/>
            <a:ext cx="8618383" cy="45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84121" y="5890000"/>
            <a:ext cx="9805481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Figura 5. Identificação do dispositivo e metadados da exportação lógica simulada.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980000"/>
            <a:ext cx="9805481" cy="1050000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3200" b="1">
                <a:solidFill>
                  <a:srgbClr val="007441"/>
                </a:solidFill>
                <a:latin typeface="Arial"/>
              </a:rPr>
              <a:t>O que diagnosticamos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2184121" y="2100000"/>
            <a:ext cx="4700000" cy="4550000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000" b="1">
                <a:solidFill>
                  <a:srgbClr val="007441"/>
                </a:solidFill>
                <a:latin typeface="Arial"/>
              </a:rPr>
              <a:t>Fato — alta confiança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Arial"/>
              </a:rPr>
              <a:t>Serviço iniciado e usuário analyst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Arial"/>
              </a:rPr>
              <a:t>Tentativa registrada de acesso ao xlsx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Arial"/>
              </a:rPr>
              <a:t>Comunicação HTTP só em 127.0.0.1:8080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Arial"/>
              </a:rPr>
              <a:t>User-Agent coincide entre fonte e PCAP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Arial"/>
              </a:rPr>
              <a:t>Código não implementa socket nem persistência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Arial"/>
              </a:rPr>
              <a:t>Integridade inicial foi registrada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7084121" y="2100000"/>
            <a:ext cx="4700000" cy="4550000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000" b="1">
                <a:solidFill>
                  <a:srgbClr val="007441"/>
                </a:solidFill>
                <a:latin typeface="Arial"/>
              </a:rPr>
              <a:t>Hipótese ou sem prova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Arial"/>
              </a:rPr>
              <a:t>Não há C2 externo comprovado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Arial"/>
              </a:rPr>
              <a:t>Não há prova de contato com 192.168.56.20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Arial"/>
              </a:rPr>
              <a:t>Não há prova de leitura, cópia ou exfiltração do xlsx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Arial"/>
              </a:rPr>
              <a:t>Artefatos móveis são simulação lógica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Arial"/>
              </a:rPr>
              <a:t>O caso permanece didático / controlado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Arial"/>
              </a:rPr>
              <a:t>Incidente real fica indeterminado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520000"/>
            <a:ext cx="9805481" cy="700000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800" b="1">
                <a:solidFill>
                  <a:srgbClr val="007441"/>
                </a:solidFill>
                <a:latin typeface="Arial"/>
              </a:rPr>
              <a:t>Evidência 13 — tráfego HTTP</a:t>
            </a:r>
          </a:p>
        </p:txBody>
      </p:sp>
      <p:pic>
        <p:nvPicPr>
          <p:cNvPr id="3" name="Picture 2" descr="ev_13_p1_1365x7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841" y="1280000"/>
            <a:ext cx="8626041" cy="45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84121" y="5890000"/>
            <a:ext cx="9805481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Figura 13. Fluxo HTTP na porta 8080. Comunicação em 127.0.0.1, não com 192.168.56.20. Não é C2 externo.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520000"/>
            <a:ext cx="9805481" cy="700000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800" b="1">
                <a:solidFill>
                  <a:srgbClr val="007441"/>
                </a:solidFill>
                <a:latin typeface="Arial"/>
              </a:rPr>
              <a:t>Evidência 15 — GET, Host e User-Agent</a:t>
            </a:r>
          </a:p>
        </p:txBody>
      </p:sp>
      <p:pic>
        <p:nvPicPr>
          <p:cNvPr id="3" name="Picture 2" descr="ev_15_p1_1365x7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841" y="1280000"/>
            <a:ext cx="8626041" cy="45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84121" y="5890000"/>
            <a:ext cx="9805481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Figura 15. GET /api/v1/sync e User-Agent CorpSync-Lab/4.2.1. Correlação entre o código-fonte e a captura.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520000"/>
            <a:ext cx="9805481" cy="700000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800" b="1">
                <a:solidFill>
                  <a:srgbClr val="007441"/>
                </a:solidFill>
                <a:latin typeface="Arial"/>
              </a:rPr>
              <a:t>Evidência 14 — filtro HTTP</a:t>
            </a:r>
          </a:p>
        </p:txBody>
      </p:sp>
      <p:pic>
        <p:nvPicPr>
          <p:cNvPr id="3" name="Picture 2" descr="ev_14_p1_1365x7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795" y="1280000"/>
            <a:ext cx="8662133" cy="45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84121" y="5890000"/>
            <a:ext cx="9805481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Figura 14. Filtro http no Wireshark. A leitura da captura foi filtrada e documentada.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980000"/>
            <a:ext cx="9805481" cy="1050000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3400" b="1">
                <a:solidFill>
                  <a:srgbClr val="007441"/>
                </a:solidFill>
                <a:latin typeface="Arial"/>
              </a:rPr>
              <a:t>O que resolvemos e o que entregamos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4121" y="2100000"/>
            <a:ext cx="9805481" cy="4550000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Delimitamos o caso: exercício controlado com indicadores correlacionáveis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Evitamos conclusão falsa de malware funcional ou C2 externo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Entregamos inventário, hashes, linha do tempo e matriz de achados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Registramos a cadeia de custódia de cada manuseio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Devolvemos ao cliente o comprovado, a hipótese e o que não se afirma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Recomendação: não tratar 127.0.0.1 como ataque externo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980000"/>
            <a:ext cx="9805481" cy="1050000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3400" b="1">
                <a:solidFill>
                  <a:srgbClr val="007441"/>
                </a:solidFill>
                <a:latin typeface="Arial"/>
              </a:rPr>
              <a:t>Linha do tempo do caso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4121" y="2100000"/>
            <a:ext cx="9805481" cy="4550000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08:30:00 — exportação lógica simulada do dispositivo móvel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08:41:12–08:42:03 — serviço iniciado e usuário analyst identificado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08:43:27 — tentativa de acesso a Financeiro.xlsx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08:44:18 — configuração do endpoint 192.168.56.20:8080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08:44:22 — requisição de teste / captura HTTP local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08:46:33 — sincronização finalizada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520000"/>
            <a:ext cx="9805481" cy="700000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800" b="1">
                <a:solidFill>
                  <a:srgbClr val="007441"/>
                </a:solidFill>
                <a:latin typeface="Arial"/>
              </a:rPr>
              <a:t>Evidência 18 — linha do tempo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84121" y="5890000"/>
            <a:ext cx="9805481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Figura 18. Timeline.csv. Sequência 08:30, 08:41:12, 08:43:27, 08:44:18 e 08:44:22.</a:t>
            </a:r>
          </a:p>
        </p:txBody>
      </p:sp>
      <p:pic>
        <p:nvPicPr>
          <p:cNvPr id="5" name="Picture 4" descr="fbdfc034-3f21-441d-840e-f4231e8030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5380" y="1280000"/>
            <a:ext cx="8722962" cy="4550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520000"/>
            <a:ext cx="9805481" cy="700000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800" b="1">
                <a:solidFill>
                  <a:srgbClr val="007441"/>
                </a:solidFill>
                <a:latin typeface="Arial"/>
              </a:rPr>
              <a:t>Evidência 19 — log do serviço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84121" y="5890000"/>
            <a:ext cx="9805481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Figura 19. Log completo do CorpSync_Service, com horários intermediários, sem alterar os fatos da timeline.</a:t>
            </a:r>
          </a:p>
        </p:txBody>
      </p:sp>
      <p:pic>
        <p:nvPicPr>
          <p:cNvPr id="5" name="Picture 4" descr="9be4d35a-8128-4024-a164-55892cdfa88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827" y="1280000"/>
            <a:ext cx="8650069" cy="4550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980000"/>
            <a:ext cx="9805481" cy="1050000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3400" b="1">
                <a:solidFill>
                  <a:srgbClr val="007441"/>
                </a:solidFill>
                <a:latin typeface="Arial"/>
              </a:rPr>
              <a:t>Funções da equipe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4121" y="2100000"/>
            <a:ext cx="9805481" cy="4550000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Gabriel Lucas Alves da Silva — gestão e liderança do projeto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Arial"/>
              </a:rPr>
              <a:t>Thiago Costa Renovato — aquisição e preservação das evidências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Arial"/>
              </a:rPr>
              <a:t>Wesley Thiago Matias Xavier — análise forense, execução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Arial"/>
              </a:rPr>
              <a:t>Samer Osama Mohammad Taleeb — análise forense, revisão cruzada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Arial"/>
              </a:rPr>
              <a:t>Matheus Nascimento Cardoso — sistemas e ferramentas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Arial"/>
              </a:rPr>
              <a:t>Bianca Xavier de Oliveira — documentação e relatório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Arial"/>
              </a:rPr>
              <a:t>Isabela Rosa Dos Santos Gontijo — revisão e qualidade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980000"/>
            <a:ext cx="9805481" cy="1050000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3000" b="1">
                <a:solidFill>
                  <a:srgbClr val="007441"/>
                </a:solidFill>
                <a:latin typeface="Arial"/>
              </a:rPr>
              <a:t>Gestão e liderança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000" b="1">
                <a:solidFill>
                  <a:srgbClr val="333333"/>
                </a:solidFill>
                <a:latin typeface="Arial"/>
              </a:rPr>
              <a:t>Gabriel Lucas Alves da Silva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4121" y="2100000"/>
            <a:ext cx="9805481" cy="4550000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1">
                <a:solidFill>
                  <a:srgbClr val="007441"/>
                </a:solidFill>
                <a:latin typeface="Arial"/>
              </a:rPr>
              <a:t>O que esta função faz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0">
                <a:solidFill>
                  <a:srgbClr val="333333"/>
                </a:solidFill>
                <a:latin typeface="Arial"/>
              </a:rPr>
              <a:t>Organiza a equipe, distribui tarefas e controla o cronograma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0">
                <a:solidFill>
                  <a:srgbClr val="333333"/>
                </a:solidFill>
                <a:latin typeface="Arial"/>
              </a:rPr>
              <a:t>Garante que coleta, análise e relatório caminhem juntos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0">
                <a:solidFill>
                  <a:srgbClr val="333333"/>
                </a:solidFill>
                <a:latin typeface="Arial"/>
              </a:rPr>
              <a:t>Representa a Nexus perante o cliente e o professor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1">
                <a:solidFill>
                  <a:srgbClr val="007441"/>
                </a:solidFill>
                <a:latin typeface="Arial"/>
              </a:rPr>
              <a:t>O que Gabriel resolveu neste caso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0">
                <a:solidFill>
                  <a:srgbClr val="333333"/>
                </a:solidFill>
                <a:latin typeface="Arial"/>
              </a:rPr>
              <a:t>Montou o time, o GitHub, o Trello e o ritmo das entregas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0">
                <a:solidFill>
                  <a:srgbClr val="333333"/>
                </a:solidFill>
                <a:latin typeface="Arial"/>
              </a:rPr>
              <a:t>Alinhou o relatório como pitch da empresa, não só como atividade de aula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0">
                <a:solidFill>
                  <a:srgbClr val="333333"/>
                </a:solidFill>
                <a:latin typeface="Arial"/>
              </a:rPr>
              <a:t>Para explicar à turma: sem gestão, a perícia vira esforço solto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980000"/>
            <a:ext cx="9805481" cy="1050000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3000" b="1">
                <a:solidFill>
                  <a:srgbClr val="007441"/>
                </a:solidFill>
                <a:latin typeface="Arial"/>
              </a:rPr>
              <a:t>Aquisição e preservação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000" b="1">
                <a:solidFill>
                  <a:srgbClr val="333333"/>
                </a:solidFill>
                <a:latin typeface="Arial"/>
              </a:rPr>
              <a:t>Thiago Costa Renovato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4121" y="2100000"/>
            <a:ext cx="9805481" cy="4550000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1">
                <a:solidFill>
                  <a:srgbClr val="007441"/>
                </a:solidFill>
                <a:latin typeface="Arial"/>
              </a:rPr>
              <a:t>O que esta função faz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0">
                <a:solidFill>
                  <a:srgbClr val="333333"/>
                </a:solidFill>
                <a:latin typeface="Arial"/>
              </a:rPr>
              <a:t>Identifica, coleta e preserva as evidências sem alterá-las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0">
                <a:solidFill>
                  <a:srgbClr val="333333"/>
                </a:solidFill>
                <a:latin typeface="Arial"/>
              </a:rPr>
              <a:t>Registra hash, data, responsável e a cadeia de custódia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1">
                <a:solidFill>
                  <a:srgbClr val="007441"/>
                </a:solidFill>
                <a:latin typeface="Arial"/>
              </a:rPr>
              <a:t>O que Thiago resolveu neste caso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0">
                <a:solidFill>
                  <a:srgbClr val="333333"/>
                </a:solidFill>
                <a:latin typeface="Arial"/>
              </a:rPr>
              <a:t>Preparou o laboratório FLARE-VM e o diretório Caso_TechCorp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0">
                <a:solidFill>
                  <a:srgbClr val="333333"/>
                </a:solidFill>
                <a:latin typeface="Arial"/>
              </a:rPr>
              <a:t>Executou o procedimento de geração dos artefatos e conferiu o inventário inicial e o Manifest_SHA256.csv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0">
                <a:solidFill>
                  <a:srgbClr val="333333"/>
                </a:solidFill>
                <a:latin typeface="Arial"/>
              </a:rPr>
              <a:t>Documentou cada manuseio: o que foi tocado, por quem e para quê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0">
                <a:solidFill>
                  <a:srgbClr val="333333"/>
                </a:solidFill>
                <a:latin typeface="Arial"/>
              </a:rPr>
              <a:t>Para explicar à turma: sem preservação, a análise não é perícia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980000"/>
            <a:ext cx="9805481" cy="1050000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3000" b="1">
                <a:solidFill>
                  <a:srgbClr val="007441"/>
                </a:solidFill>
                <a:latin typeface="Arial"/>
              </a:rPr>
              <a:t>Análise forense — execução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000" b="1">
                <a:solidFill>
                  <a:srgbClr val="333333"/>
                </a:solidFill>
                <a:latin typeface="Arial"/>
              </a:rPr>
              <a:t>Wesley Thiago Matias Xavier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4121" y="2100000"/>
            <a:ext cx="9805481" cy="4550000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1">
                <a:solidFill>
                  <a:srgbClr val="007441"/>
                </a:solidFill>
                <a:latin typeface="Arial"/>
              </a:rPr>
              <a:t>O que esta função faz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0">
                <a:solidFill>
                  <a:srgbClr val="333333"/>
                </a:solidFill>
                <a:latin typeface="Arial"/>
              </a:rPr>
              <a:t>Examina arquivos, logs, metadados e artefatos do sistema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0">
                <a:solidFill>
                  <a:srgbClr val="333333"/>
                </a:solidFill>
                <a:latin typeface="Arial"/>
              </a:rPr>
              <a:t>Reconstrói o que aconteceu a partir dos vestígios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1">
                <a:solidFill>
                  <a:srgbClr val="007441"/>
                </a:solidFill>
                <a:latin typeface="Arial"/>
              </a:rPr>
              <a:t>O que Wesley resolveu neste caso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0">
                <a:solidFill>
                  <a:srgbClr val="333333"/>
                </a:solidFill>
                <a:latin typeface="Arial"/>
              </a:rPr>
              <a:t>Leu o código CorpSync_Service.c e os logs do serviço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0">
                <a:solidFill>
                  <a:srgbClr val="333333"/>
                </a:solidFill>
                <a:latin typeface="Arial"/>
              </a:rPr>
              <a:t>Ligou o início do serviço, o usuário analyst e o Financeiro.xlsx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0">
                <a:solidFill>
                  <a:srgbClr val="333333"/>
                </a:solidFill>
                <a:latin typeface="Arial"/>
              </a:rPr>
              <a:t>Mostrou que o fonte só imprime indicadores — não abre socket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0">
                <a:solidFill>
                  <a:srgbClr val="333333"/>
                </a:solidFill>
                <a:latin typeface="Arial"/>
              </a:rPr>
              <a:t>Para explicar à turma: analisar é correlacionar, não chutar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980000"/>
            <a:ext cx="9805481" cy="1050000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3000" b="1">
                <a:solidFill>
                  <a:srgbClr val="007441"/>
                </a:solidFill>
                <a:latin typeface="Arial"/>
              </a:rPr>
              <a:t>Análise forense — revisão cruzada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000" b="1">
                <a:solidFill>
                  <a:srgbClr val="333333"/>
                </a:solidFill>
                <a:latin typeface="Arial"/>
              </a:rPr>
              <a:t>Samer Osama Mohammad Taleeb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4121" y="2100000"/>
            <a:ext cx="9805481" cy="4550000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1">
                <a:solidFill>
                  <a:srgbClr val="007441"/>
                </a:solidFill>
                <a:latin typeface="Arial"/>
              </a:rPr>
              <a:t>O que esta função faz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0">
                <a:solidFill>
                  <a:srgbClr val="333333"/>
                </a:solidFill>
                <a:latin typeface="Arial"/>
              </a:rPr>
              <a:t>Faz a segunda leitura técnica dos mesmos vestígios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0">
                <a:solidFill>
                  <a:srgbClr val="333333"/>
                </a:solidFill>
                <a:latin typeface="Arial"/>
              </a:rPr>
              <a:t>Discute o que é fato, hipótese e limitação antes de fechar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1">
                <a:solidFill>
                  <a:srgbClr val="007441"/>
                </a:solidFill>
                <a:latin typeface="Arial"/>
              </a:rPr>
              <a:t>O que Samer resolveu neste caso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0">
                <a:solidFill>
                  <a:srgbClr val="333333"/>
                </a:solidFill>
                <a:latin typeface="Arial"/>
              </a:rPr>
              <a:t>Conferiu a correlação entre fonte, logs, móvel e PCAP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0">
                <a:solidFill>
                  <a:srgbClr val="333333"/>
                </a:solidFill>
                <a:latin typeface="Arial"/>
              </a:rPr>
              <a:t>Separou o IP configurado (192.168.56.20) do tráfego real (127.0.0.1)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0">
                <a:solidFill>
                  <a:srgbClr val="333333"/>
                </a:solidFill>
                <a:latin typeface="Arial"/>
              </a:rPr>
              <a:t>Impediu que um indicador isolado vire prova de C2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0">
                <a:solidFill>
                  <a:srgbClr val="333333"/>
                </a:solidFill>
                <a:latin typeface="Arial"/>
              </a:rPr>
              <a:t>Para explicar à turma: quatro olhos reduzem erro pericial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980000"/>
            <a:ext cx="9805481" cy="1050000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3000" b="1">
                <a:solidFill>
                  <a:srgbClr val="007441"/>
                </a:solidFill>
                <a:latin typeface="Arial"/>
              </a:rPr>
              <a:t>Sistemas e ferramentas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000" b="1">
                <a:solidFill>
                  <a:srgbClr val="333333"/>
                </a:solidFill>
                <a:latin typeface="Arial"/>
              </a:rPr>
              <a:t>Matheus Nascimento Cardoso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4121" y="2100000"/>
            <a:ext cx="9805481" cy="4550000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1">
                <a:solidFill>
                  <a:srgbClr val="007441"/>
                </a:solidFill>
                <a:latin typeface="Arial"/>
              </a:rPr>
              <a:t>O que esta função faz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0">
                <a:solidFill>
                  <a:srgbClr val="333333"/>
                </a:solidFill>
                <a:latin typeface="Arial"/>
              </a:rPr>
              <a:t>Pesquisa, prepara e opera as ferramentas da investigação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0">
                <a:solidFill>
                  <a:srgbClr val="333333"/>
                </a:solidFill>
                <a:latin typeface="Arial"/>
              </a:rPr>
              <a:t>Documenta comandos, filtros e configurações usadas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1">
                <a:solidFill>
                  <a:srgbClr val="007441"/>
                </a:solidFill>
                <a:latin typeface="Arial"/>
              </a:rPr>
              <a:t>O que Matheus resolveu neste caso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0">
                <a:solidFill>
                  <a:srgbClr val="333333"/>
                </a:solidFill>
                <a:latin typeface="Arial"/>
              </a:rPr>
              <a:t>Apoiou VirtualBox/FLARE-VM, PowerShell, Wireshark e Visual Studio Code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0">
                <a:solidFill>
                  <a:srgbClr val="333333"/>
                </a:solidFill>
                <a:latin typeface="Arial"/>
              </a:rPr>
              <a:t>Garantiu que cada ferramenta respondesse a uma pergunta do caso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0">
                <a:solidFill>
                  <a:srgbClr val="333333"/>
                </a:solidFill>
                <a:latin typeface="Arial"/>
              </a:rPr>
              <a:t>Registrou filtros e a leitura da captura C2_Traffic_Capture.pcap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0">
                <a:solidFill>
                  <a:srgbClr val="333333"/>
                </a:solidFill>
                <a:latin typeface="Arial"/>
              </a:rPr>
              <a:t>Para explicar à turma: ferramenta errada gera conclusão errada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980000"/>
            <a:ext cx="9805481" cy="1050000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3000" b="1">
                <a:solidFill>
                  <a:srgbClr val="007441"/>
                </a:solidFill>
                <a:latin typeface="Arial"/>
              </a:rPr>
              <a:t>Documentação e relatório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000" b="1">
                <a:solidFill>
                  <a:srgbClr val="333333"/>
                </a:solidFill>
                <a:latin typeface="Arial"/>
              </a:rPr>
              <a:t>Bianca Xavier de Oliveira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4121" y="2100000"/>
            <a:ext cx="9805481" cy="4550000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1">
                <a:solidFill>
                  <a:srgbClr val="007441"/>
                </a:solidFill>
                <a:latin typeface="Arial"/>
              </a:rPr>
              <a:t>O que esta função faz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0">
                <a:solidFill>
                  <a:srgbClr val="333333"/>
                </a:solidFill>
                <a:latin typeface="Arial"/>
              </a:rPr>
              <a:t>Registra o que a equipe fez em cada etapa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0">
                <a:solidFill>
                  <a:srgbClr val="333333"/>
                </a:solidFill>
                <a:latin typeface="Arial"/>
              </a:rPr>
              <a:t>Consolida tabelas, figuras, hashes e o relatório final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1">
                <a:solidFill>
                  <a:srgbClr val="007441"/>
                </a:solidFill>
                <a:latin typeface="Arial"/>
              </a:rPr>
              <a:t>O que Bianca resolveu neste caso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0">
                <a:solidFill>
                  <a:srgbClr val="333333"/>
                </a:solidFill>
                <a:latin typeface="Arial"/>
              </a:rPr>
              <a:t>Organizou inventário, matriz de achados e linha do tempo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0">
                <a:solidFill>
                  <a:srgbClr val="333333"/>
                </a:solidFill>
                <a:latin typeface="Arial"/>
              </a:rPr>
              <a:t>Transformou a análise em um relatório que o cliente consegue ler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0">
                <a:solidFill>
                  <a:srgbClr val="333333"/>
                </a:solidFill>
                <a:latin typeface="Arial"/>
              </a:rPr>
              <a:t>Deixou o documento no padrão da Nexus e da disciplina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0">
                <a:solidFill>
                  <a:srgbClr val="333333"/>
                </a:solidFill>
                <a:latin typeface="Arial"/>
              </a:rPr>
              <a:t>Para explicar à turma: evidência sem registro não se entrega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980000"/>
            <a:ext cx="9805481" cy="1050000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3000" b="1">
                <a:solidFill>
                  <a:srgbClr val="007441"/>
                </a:solidFill>
                <a:latin typeface="Arial"/>
              </a:rPr>
              <a:t>Revisão e qualidade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000" b="1">
                <a:solidFill>
                  <a:srgbClr val="333333"/>
                </a:solidFill>
                <a:latin typeface="Arial"/>
              </a:rPr>
              <a:t>Isabela Rosa Dos Santos Gontijo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4121" y="2100000"/>
            <a:ext cx="9805481" cy="4550000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1">
                <a:solidFill>
                  <a:srgbClr val="007441"/>
                </a:solidFill>
                <a:latin typeface="Arial"/>
              </a:rPr>
              <a:t>O que esta função faz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0">
                <a:solidFill>
                  <a:srgbClr val="333333"/>
                </a:solidFill>
                <a:latin typeface="Arial"/>
              </a:rPr>
              <a:t>Revisa as entregas antes de fecharem a sprint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0">
                <a:solidFill>
                  <a:srgbClr val="333333"/>
                </a:solidFill>
                <a:latin typeface="Arial"/>
              </a:rPr>
              <a:t>Confere se evidência, texto e conclusão batem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1">
                <a:solidFill>
                  <a:srgbClr val="007441"/>
                </a:solidFill>
                <a:latin typeface="Arial"/>
              </a:rPr>
              <a:t>O que Isabela resolveu neste caso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0">
                <a:solidFill>
                  <a:srgbClr val="333333"/>
                </a:solidFill>
                <a:latin typeface="Arial"/>
              </a:rPr>
              <a:t>Checou consistência entre hashes, figuras e afirmações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0">
                <a:solidFill>
                  <a:srgbClr val="333333"/>
                </a:solidFill>
                <a:latin typeface="Arial"/>
              </a:rPr>
              <a:t>Apontou o que estava incompleto ou forte demais para a prova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0">
                <a:solidFill>
                  <a:srgbClr val="333333"/>
                </a:solidFill>
                <a:latin typeface="Arial"/>
              </a:rPr>
              <a:t>Barrou conclusão de incidente real sem evidência suficiente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100" b="0">
                <a:solidFill>
                  <a:srgbClr val="333333"/>
                </a:solidFill>
                <a:latin typeface="Arial"/>
              </a:rPr>
              <a:t>Para explicar à turma: qualidade é a última trava contra erro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980000"/>
            <a:ext cx="9805481" cy="1050000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3400" b="1">
                <a:solidFill>
                  <a:srgbClr val="007441"/>
                </a:solidFill>
                <a:latin typeface="Arial"/>
              </a:rPr>
              <a:t>Por que contratar a Nexus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4121" y="2100000"/>
            <a:ext cx="9805481" cy="4550000"/>
          </a:xfrm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Recebemos o ambiente, preservamos e registramos a cadeia de custódia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Correlacionamos fonte, logs, artefatos móveis e tráfego de rede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Devolvemos uma conclusão honesta: comprovado, hipótese e limite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Papéis definidos, ferramentas certas e relatório rastreável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Não vendemos achismo. Entregamos perícia documentada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Arial"/>
              </a:rPr>
              <a:t>Conectando evidências. Revelando respostas.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EDE569EA-EBDD-0A4F-9967-EABFD4B7CCA6}"/>
              </a:ext>
            </a:extLst>
          </p:cNvPr>
          <p:cNvSpPr txBox="1"/>
          <p:nvPr/>
        </p:nvSpPr>
        <p:spPr>
          <a:xfrm>
            <a:off x="4179342" y="2137566"/>
            <a:ext cx="57782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20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Tahoma"/>
              </a:rPr>
              <a:t>Obrigado!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4ACA0DA-15BF-0246-87AE-9F24F3034EE5}"/>
              </a:ext>
            </a:extLst>
          </p:cNvPr>
          <p:cNvSpPr txBox="1"/>
          <p:nvPr/>
        </p:nvSpPr>
        <p:spPr>
          <a:xfrm>
            <a:off x="4179342" y="3198167"/>
            <a:ext cx="5778230" cy="9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20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Tahoma"/>
              </a:rPr>
              <a:t>Conectando evidências. Revelando respostas.</a:t>
            </a:r>
            <a:endParaRPr lang="pt-BR" sz="2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>
              <a:spcBef>
                <a:spcPts val="20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Tahoma"/>
              </a:rPr>
              <a:t>Nexus  |  UNICEPLAC  |  2026</a:t>
            </a:r>
          </a:p>
        </p:txBody>
      </p:sp>
    </p:spTree>
    <p:extLst>
      <p:ext uri="{BB962C8B-B14F-4D97-AF65-F5344CB8AC3E}">
        <p14:creationId xmlns:p14="http://schemas.microsoft.com/office/powerpoint/2010/main" val="1340436555"/>
      </p:ext>
    </p:extLst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980000"/>
            <a:ext cx="9805481" cy="9000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007441"/>
                </a:solidFill>
                <a:latin typeface="Arial"/>
              </a:rPr>
              <a:t>Cadeia de custódia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4121" y="1950000"/>
            <a:ext cx="9805481" cy="4000000"/>
          </a:xfrm>
        </p:spPr>
        <p:txBody>
          <a:bodyPr wrap="square"/>
          <a:lstStyle/>
          <a:p>
            <a:pPr algn="l"/>
            <a:r>
              <a:rPr sz="2200" b="0">
                <a:solidFill>
                  <a:srgbClr val="333333"/>
                </a:solidFill>
                <a:latin typeface="Arial"/>
              </a:rPr>
              <a:t>Registro de quem acessou cada evidência, quando, para quê e com qual hash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Arial"/>
              </a:rPr>
              <a:t>No laboratório, o controle foi preservar os artefatos, o manifesto e a captura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Arial"/>
              </a:rPr>
              <a:t>07/09/2026 16:19 — o script oficial gerou Caso_TechCorp e o Manifest_SHA256.csv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Arial"/>
              </a:rPr>
              <a:t>16:31 — inventário e hashes conferidos; os arquivos ficaram na pasta de trabalho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Arial"/>
              </a:rPr>
              <a:t>16:33–16:35 — Mobile_Simulated foi apenas lido; o manifesto seguiu como referência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Arial"/>
              </a:rPr>
              <a:t>16:37 — CorpSync_Service.c inspecionado no editor (hash AC3960…B5BCA)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Arial"/>
              </a:rPr>
              <a:t>16:42 — eventos 1001, 1002 e 1003 lidos no CSV (hash 5A848F…834CE)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980000"/>
            <a:ext cx="9805481" cy="9000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007441"/>
                </a:solidFill>
                <a:latin typeface="Arial"/>
              </a:rPr>
              <a:t>O que a custódia deixa claro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4121" y="1950000"/>
            <a:ext cx="9805481" cy="4000000"/>
          </a:xfrm>
        </p:spPr>
        <p:txBody>
          <a:bodyPr wrap="square"/>
          <a:lstStyle/>
          <a:p>
            <a:pPr algn="l"/>
            <a:r>
              <a:rPr sz="2400" b="0">
                <a:solidFill>
                  <a:srgbClr val="333333"/>
                </a:solidFill>
                <a:latin typeface="Arial"/>
              </a:rPr>
              <a:t>16:49–18:04 — o PCAP foi gerado e lido no Wireshark depois do manifesto inicial</a:t>
            </a:r>
          </a:p>
          <a:p>
            <a:pPr algn="l"/>
            <a:r>
              <a:rPr sz="2400" b="0">
                <a:solidFill>
                  <a:srgbClr val="333333"/>
                </a:solidFill>
                <a:latin typeface="Arial"/>
              </a:rPr>
              <a:t>Por isso C2_Traffic_Capture.pcap não entra no SHA-256 da primeira coleta</a:t>
            </a:r>
          </a:p>
          <a:p>
            <a:pPr algn="l"/>
            <a:r>
              <a:rPr sz="2400" b="0">
                <a:solidFill>
                  <a:srgbClr val="333333"/>
                </a:solidFill>
                <a:latin typeface="Arial"/>
              </a:rPr>
              <a:t>Hash diferente significa outro conteúdo: alteração, outra versão ou falha de custódia</a:t>
            </a:r>
          </a:p>
          <a:p>
            <a:pPr algn="l"/>
            <a:r>
              <a:rPr sz="2400" b="0">
                <a:solidFill>
                  <a:srgbClr val="333333"/>
                </a:solidFill>
                <a:latin typeface="Arial"/>
              </a:rPr>
              <a:t>Não houve aquisição física de celular; o móvel é exportação lógica simulada</a:t>
            </a:r>
          </a:p>
          <a:p>
            <a:pPr algn="l"/>
            <a:r>
              <a:rPr sz="2400" b="0">
                <a:solidFill>
                  <a:srgbClr val="333333"/>
                </a:solidFill>
                <a:latin typeface="Arial"/>
              </a:rPr>
              <a:t>Preservação do caso: Thiago Costa Renovato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520000"/>
            <a:ext cx="9805481" cy="700000"/>
          </a:xfrm>
        </p:spPr>
        <p:txBody>
          <a:bodyPr wrap="square"/>
          <a:lstStyle/>
          <a:p>
            <a:pPr algn="l"/>
            <a:r>
              <a:rPr sz="2800" b="1">
                <a:solidFill>
                  <a:srgbClr val="007441"/>
                </a:solidFill>
                <a:latin typeface="Arial"/>
              </a:rPr>
              <a:t>Evidência 3 — pasta Mobile_Simulated</a:t>
            </a:r>
          </a:p>
        </p:txBody>
      </p:sp>
      <p:pic>
        <p:nvPicPr>
          <p:cNvPr id="3" name="Picture 2" descr="ev_03_p1_1352x7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8976" y="1280000"/>
            <a:ext cx="8555771" cy="45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84121" y="5890000"/>
            <a:ext cx="9805481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Figura 3. Conteúdo da pasta Mobile_Simulated. São artefatos de laboratório: não houve aquisição física de celular.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520000"/>
            <a:ext cx="9805481" cy="700000"/>
          </a:xfrm>
        </p:spPr>
        <p:txBody>
          <a:bodyPr wrap="square"/>
          <a:lstStyle/>
          <a:p>
            <a:pPr algn="l"/>
            <a:r>
              <a:rPr sz="2800" b="1">
                <a:solidFill>
                  <a:srgbClr val="007441"/>
                </a:solidFill>
                <a:latin typeface="Arial"/>
              </a:rPr>
              <a:t>Evidência 4 — preferências do aplicativo</a:t>
            </a:r>
          </a:p>
        </p:txBody>
      </p:sp>
      <p:pic>
        <p:nvPicPr>
          <p:cNvPr id="3" name="Picture 2" descr="ev_04_p1_1353x7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757" y="1280000"/>
            <a:ext cx="8550208" cy="45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84121" y="5890000"/>
            <a:ext cx="9805481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Figura 4. app_sync_preferences.json. Configuração do aplicativo móvel usada na correlação dos indicadores.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520000"/>
            <a:ext cx="9805481" cy="700000"/>
          </a:xfrm>
        </p:spPr>
        <p:txBody>
          <a:bodyPr wrap="square"/>
          <a:lstStyle/>
          <a:p>
            <a:pPr algn="l"/>
            <a:r>
              <a:rPr sz="2800" b="1">
                <a:solidFill>
                  <a:srgbClr val="007441"/>
                </a:solidFill>
                <a:latin typeface="Arial"/>
              </a:rPr>
              <a:t>Evidência 6 — mensagens simuladas</a:t>
            </a:r>
          </a:p>
        </p:txBody>
      </p:sp>
      <p:pic>
        <p:nvPicPr>
          <p:cNvPr id="3" name="Picture 2" descr="ev_06_p1_1365x7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841" y="1280000"/>
            <a:ext cx="8626041" cy="45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84121" y="5890000"/>
            <a:ext cx="9805481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Figura 6. messages_simulated.txt. Mensagens usadas apenas para correlação temporal.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520000"/>
            <a:ext cx="9805481" cy="700000"/>
          </a:xfrm>
        </p:spPr>
        <p:txBody>
          <a:bodyPr wrap="square"/>
          <a:lstStyle/>
          <a:p>
            <a:pPr algn="l"/>
            <a:r>
              <a:rPr sz="2800" b="1">
                <a:solidFill>
                  <a:srgbClr val="007441"/>
                </a:solidFill>
                <a:latin typeface="Arial"/>
              </a:rPr>
              <a:t>Evidência 7 — pasta Tools</a:t>
            </a:r>
          </a:p>
        </p:txBody>
      </p:sp>
      <p:pic>
        <p:nvPicPr>
          <p:cNvPr id="3" name="Picture 2" descr="ev_07_p1_1357x7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5165" y="1280000"/>
            <a:ext cx="8623393" cy="45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84121" y="5890000"/>
            <a:ext cx="9805481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Figura 7. Artefatos da pasta Tools disponíveis para a análise do caso.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520000"/>
            <a:ext cx="9805481" cy="700000"/>
          </a:xfrm>
        </p:spPr>
        <p:txBody>
          <a:bodyPr wrap="square"/>
          <a:lstStyle/>
          <a:p>
            <a:pPr algn="l"/>
            <a:r>
              <a:rPr sz="2800" b="1">
                <a:solidFill>
                  <a:srgbClr val="007441"/>
                </a:solidFill>
                <a:latin typeface="Arial"/>
              </a:rPr>
              <a:t>Evidência 10 — pasta Network inicial</a:t>
            </a:r>
          </a:p>
        </p:txBody>
      </p:sp>
      <p:pic>
        <p:nvPicPr>
          <p:cNvPr id="3" name="Picture 2" descr="ev_10_p1_1364x7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4995" y="1280000"/>
            <a:ext cx="8643732" cy="45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84121" y="5890000"/>
            <a:ext cx="9805481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Figura 10. Pasta Network antes da captura. O PCAP ainda não existia neste momento.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520000"/>
            <a:ext cx="9805481" cy="700000"/>
          </a:xfrm>
        </p:spPr>
        <p:txBody>
          <a:bodyPr wrap="square"/>
          <a:lstStyle/>
          <a:p>
            <a:pPr algn="l"/>
            <a:r>
              <a:rPr sz="2800" b="1">
                <a:solidFill>
                  <a:srgbClr val="007441"/>
                </a:solidFill>
                <a:latin typeface="Arial"/>
              </a:rPr>
              <a:t>Evidência 11 — instrução para gerar o PCAP</a:t>
            </a:r>
          </a:p>
        </p:txBody>
      </p:sp>
      <p:pic>
        <p:nvPicPr>
          <p:cNvPr id="3" name="Picture 2" descr="ev_11_p1_1364x7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4995" y="1280000"/>
            <a:ext cx="8643732" cy="45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84121" y="5890000"/>
            <a:ext cx="9805481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Figura 11. Instruções oficiais do caso para gerar a captura. O PCAP não veio pronto na primeira coleta.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520000"/>
            <a:ext cx="9805481" cy="700000"/>
          </a:xfrm>
        </p:spPr>
        <p:txBody>
          <a:bodyPr wrap="square"/>
          <a:lstStyle/>
          <a:p>
            <a:pPr algn="l"/>
            <a:r>
              <a:rPr sz="2800" b="1">
                <a:solidFill>
                  <a:srgbClr val="007441"/>
                </a:solidFill>
                <a:latin typeface="Arial"/>
              </a:rPr>
              <a:t>Evidência 12 — interface de loopback</a:t>
            </a:r>
          </a:p>
        </p:txBody>
      </p:sp>
      <p:pic>
        <p:nvPicPr>
          <p:cNvPr id="3" name="Picture 2" descr="ev_12_p1_1365x7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788" y="1280000"/>
            <a:ext cx="8602146" cy="45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84121" y="5890000"/>
            <a:ext cx="9805481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Figura 12. Interface de loopback no Wireshark. A captura é local, não de uma rede externa.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520000"/>
            <a:ext cx="9805481" cy="700000"/>
          </a:xfrm>
        </p:spPr>
        <p:txBody>
          <a:bodyPr wrap="square"/>
          <a:lstStyle/>
          <a:p>
            <a:pPr algn="l"/>
            <a:r>
              <a:rPr sz="2800" b="1">
                <a:solidFill>
                  <a:srgbClr val="007441"/>
                </a:solidFill>
                <a:latin typeface="Arial"/>
              </a:rPr>
              <a:t>Evidência 16 — fluxo TCP na porta 8080</a:t>
            </a:r>
          </a:p>
        </p:txBody>
      </p:sp>
      <p:pic>
        <p:nvPicPr>
          <p:cNvPr id="3" name="Picture 2" descr="ev_16_p1_1365x7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746" y="1280000"/>
            <a:ext cx="8674231" cy="45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84121" y="5890000"/>
            <a:ext cx="9805481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Figura 16. Filtro tcp.port == 8080 com o fluxo TCP completo da porta do laboratório.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520000"/>
            <a:ext cx="9805481" cy="700000"/>
          </a:xfrm>
        </p:spPr>
        <p:txBody>
          <a:bodyPr wrap="square"/>
          <a:lstStyle/>
          <a:p>
            <a:pPr algn="l"/>
            <a:r>
              <a:rPr sz="2800" b="1">
                <a:solidFill>
                  <a:srgbClr val="007441"/>
                </a:solidFill>
                <a:latin typeface="Arial"/>
              </a:rPr>
              <a:t>Evidência 17 — PCAP preservado</a:t>
            </a:r>
          </a:p>
        </p:txBody>
      </p:sp>
      <p:pic>
        <p:nvPicPr>
          <p:cNvPr id="3" name="Picture 2" descr="ev_19_p1_1365x7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842" y="1280000"/>
            <a:ext cx="8638038" cy="45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84121" y="5890000"/>
            <a:ext cx="9805481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Figura 17. C2_Traffic_Capture.pcap salvo na pasta Network. Foi gerado depois do manifesto SHA-256 inicial.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loSlidePadrãoAluno" id="{DEABD460-2CAF-BE41-9026-6AB063403C84}" vid="{AC62CC72-D5F1-2E49-9986-DE58333FB96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 do Office</Template>
  <TotalTime>30</TotalTime>
  <Words>102</Words>
  <Application>Microsoft Macintosh PowerPoint</Application>
  <PresentationFormat>Widescreen</PresentationFormat>
  <Paragraphs>10</Paragraphs>
  <Slides>41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Tahoma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Microsoft Office User</dc:creator>
  <cp:lastModifiedBy>Microsoft Office User</cp:lastModifiedBy>
  <cp:revision>4</cp:revision>
  <dcterms:created xsi:type="dcterms:W3CDTF">2024-01-29T14:27:05Z</dcterms:created>
  <dcterms:modified xsi:type="dcterms:W3CDTF">2024-05-07T15:22:36Z</dcterms:modified>
</cp:coreProperties>
</file>